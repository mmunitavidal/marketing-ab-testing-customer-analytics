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61" r:id="rId3"/>
    <p:sldId id="262" r:id="rId4"/>
    <p:sldId id="257" r:id="rId5"/>
    <p:sldId id="258" r:id="rId6"/>
    <p:sldId id="259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231760C5-6358-4FBA-8D12-C964CB680C22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3D66BF13-AC1D-4274-9EFE-769565D62AB5}" type="slidenum">
              <a:rPr lang="es-CL" smtClean="0"/>
              <a:t>‹Nº›</a:t>
            </a:fld>
            <a:endParaRPr lang="es-CL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2548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760C5-6358-4FBA-8D12-C964CB680C22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6BF13-AC1D-4274-9EFE-769565D62AB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25851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760C5-6358-4FBA-8D12-C964CB680C22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6BF13-AC1D-4274-9EFE-769565D62AB5}" type="slidenum">
              <a:rPr lang="es-CL" smtClean="0"/>
              <a:t>‹Nº›</a:t>
            </a:fld>
            <a:endParaRPr lang="es-CL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1477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760C5-6358-4FBA-8D12-C964CB680C22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6BF13-AC1D-4274-9EFE-769565D62AB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69512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760C5-6358-4FBA-8D12-C964CB680C22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6BF13-AC1D-4274-9EFE-769565D62AB5}" type="slidenum">
              <a:rPr lang="es-CL" smtClean="0"/>
              <a:t>‹Nº›</a:t>
            </a:fld>
            <a:endParaRPr lang="es-CL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5238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760C5-6358-4FBA-8D12-C964CB680C22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6BF13-AC1D-4274-9EFE-769565D62AB5}" type="slidenum">
              <a:rPr lang="es-CL" smtClean="0"/>
              <a:t>‹Nº›</a:t>
            </a:fld>
            <a:endParaRPr lang="es-CL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567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760C5-6358-4FBA-8D12-C964CB680C22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6BF13-AC1D-4274-9EFE-769565D62AB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13767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760C5-6358-4FBA-8D12-C964CB680C22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6BF13-AC1D-4274-9EFE-769565D62AB5}" type="slidenum">
              <a:rPr lang="es-CL" smtClean="0"/>
              <a:t>‹Nº›</a:t>
            </a:fld>
            <a:endParaRPr lang="es-CL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3539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760C5-6358-4FBA-8D12-C964CB680C22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6BF13-AC1D-4274-9EFE-769565D62AB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1088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760C5-6358-4FBA-8D12-C964CB680C22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6BF13-AC1D-4274-9EFE-769565D62AB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1472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760C5-6358-4FBA-8D12-C964CB680C22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6BF13-AC1D-4274-9EFE-769565D62AB5}" type="slidenum">
              <a:rPr lang="es-CL" smtClean="0"/>
              <a:t>‹Nº›</a:t>
            </a:fld>
            <a:endParaRPr lang="es-CL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65330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760C5-6358-4FBA-8D12-C964CB680C22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6BF13-AC1D-4274-9EFE-769565D62AB5}" type="slidenum">
              <a:rPr lang="es-CL" smtClean="0"/>
              <a:t>‹Nº›</a:t>
            </a:fld>
            <a:endParaRPr lang="es-CL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6127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760C5-6358-4FBA-8D12-C964CB680C22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6BF13-AC1D-4274-9EFE-769565D62AB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617030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760C5-6358-4FBA-8D12-C964CB680C22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6BF13-AC1D-4274-9EFE-769565D62AB5}" type="slidenum">
              <a:rPr lang="es-CL" smtClean="0"/>
              <a:t>‹Nº›</a:t>
            </a:fld>
            <a:endParaRPr lang="es-CL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78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760C5-6358-4FBA-8D12-C964CB680C22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6BF13-AC1D-4274-9EFE-769565D62AB5}" type="slidenum">
              <a:rPr lang="es-CL" smtClean="0"/>
              <a:t>‹Nº›</a:t>
            </a:fld>
            <a:endParaRPr lang="es-CL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26261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760C5-6358-4FBA-8D12-C964CB680C22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6BF13-AC1D-4274-9EFE-769565D62AB5}" type="slidenum">
              <a:rPr lang="es-CL" smtClean="0"/>
              <a:t>‹Nº›</a:t>
            </a:fld>
            <a:endParaRPr lang="es-CL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93137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760C5-6358-4FBA-8D12-C964CB680C22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6BF13-AC1D-4274-9EFE-769565D62AB5}" type="slidenum">
              <a:rPr lang="es-CL" smtClean="0"/>
              <a:t>‹Nº›</a:t>
            </a:fld>
            <a:endParaRPr lang="es-CL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053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31760C5-6358-4FBA-8D12-C964CB680C22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D66BF13-AC1D-4274-9EFE-769565D62AB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4859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0C410E-8977-040A-493C-21AE0568C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786809"/>
            <a:ext cx="9601196" cy="1648047"/>
          </a:xfrm>
        </p:spPr>
        <p:txBody>
          <a:bodyPr>
            <a:noAutofit/>
          </a:bodyPr>
          <a:lstStyle/>
          <a:p>
            <a:r>
              <a:rPr lang="es-CL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Proyecto Final — Data </a:t>
            </a:r>
            <a:r>
              <a:rPr lang="es-CL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Analyst</a:t>
            </a:r>
            <a:r>
              <a:rPr lang="es-CL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</a:t>
            </a:r>
            <a:r>
              <a:rPr lang="es-CL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TripleTen</a:t>
            </a:r>
            <a:r>
              <a:rPr lang="es-CL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es-CL" sz="4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5AC0C7-87F8-76F5-B980-1BD9C3EE98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679404"/>
            <a:ext cx="9601196" cy="3196463"/>
          </a:xfrm>
        </p:spPr>
        <p:txBody>
          <a:bodyPr>
            <a:normAutofit/>
          </a:bodyPr>
          <a:lstStyle/>
          <a:p>
            <a:endParaRPr lang="es-ES" b="1" dirty="0"/>
          </a:p>
          <a:p>
            <a:r>
              <a:rPr lang="es-ES" b="1" dirty="0"/>
              <a:t>Tema</a:t>
            </a:r>
            <a:r>
              <a:rPr lang="es-ES" dirty="0"/>
              <a:t>: Tres casos aplicados (Telecom, Test A/B y SQL)</a:t>
            </a:r>
          </a:p>
          <a:p>
            <a:r>
              <a:rPr lang="es-ES" b="1" dirty="0"/>
              <a:t>Ventanas de estudio clave</a:t>
            </a:r>
            <a:r>
              <a:rPr lang="es-ES" dirty="0"/>
              <a:t>: A/B 07/12/2020–01/01/2021 (14 días por usuario)</a:t>
            </a:r>
          </a:p>
          <a:p>
            <a:r>
              <a:rPr lang="es-ES" b="1" dirty="0"/>
              <a:t>Autora</a:t>
            </a:r>
            <a:r>
              <a:rPr lang="es-ES" dirty="0"/>
              <a:t>: </a:t>
            </a:r>
            <a:r>
              <a:rPr lang="es-ES" i="1" dirty="0"/>
              <a:t>María Paz Munita Vidal</a:t>
            </a:r>
            <a:endParaRPr lang="es-ES" dirty="0"/>
          </a:p>
          <a:p>
            <a:pPr marL="0" indent="0">
              <a:buNone/>
            </a:pP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450254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1E00C4-B332-3658-1B8E-114C9075E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Enlaces y accesos</a:t>
            </a:r>
            <a:endParaRPr lang="es-CL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89DD61B-8FE8-B13C-2C15-7D3B4F351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dirty="0"/>
              <a:t>Notebook con código </a:t>
            </a:r>
          </a:p>
          <a:p>
            <a:pPr marL="0" indent="0">
              <a:buNone/>
            </a:pPr>
            <a:r>
              <a:rPr lang="es-ES" dirty="0"/>
              <a:t>https://cnt-3e244672-dcd1-4724-a426-173c37b8e757.containerhub.tripleten-services.com/notebooks/Notebook%20Proyecto%20Final.ipynb</a:t>
            </a:r>
          </a:p>
          <a:p>
            <a:r>
              <a:rPr lang="es-ES" b="1" dirty="0" err="1"/>
              <a:t>Dashboard</a:t>
            </a:r>
            <a:r>
              <a:rPr lang="es-ES" b="1" dirty="0"/>
              <a:t> (</a:t>
            </a:r>
            <a:r>
              <a:rPr lang="es-ES" b="1" dirty="0" err="1"/>
              <a:t>Tableau</a:t>
            </a:r>
            <a:r>
              <a:rPr lang="es-ES" b="1" dirty="0"/>
              <a:t> </a:t>
            </a:r>
            <a:r>
              <a:rPr lang="es-ES" b="1" dirty="0" err="1"/>
              <a:t>Public</a:t>
            </a:r>
            <a:r>
              <a:rPr lang="es-ES" b="1" dirty="0"/>
              <a:t>): </a:t>
            </a:r>
            <a:endParaRPr lang="es-ES" b="1" i="1" dirty="0"/>
          </a:p>
          <a:p>
            <a:pPr marL="0" indent="0">
              <a:buNone/>
            </a:pPr>
            <a:r>
              <a:rPr lang="es-ES" dirty="0"/>
              <a:t>https://public.tableau.com/authoring/DasboardCasoTelecomunicaciones/Dashboard1#1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330278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6BF9E3-0063-2984-1919-7D70EFCC3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Hallazgos generales</a:t>
            </a:r>
            <a:endParaRPr lang="es-CL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D7B1B7-8D4F-6C1A-E777-283A0D645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2800" b="1" dirty="0"/>
              <a:t>Caso Telecomunicaciones: </a:t>
            </a:r>
            <a:r>
              <a:rPr lang="es-ES" sz="2800" dirty="0"/>
              <a:t>se identifican patrones de ineficacia por operador (mayor % de perdidas y tiempos de espera).</a:t>
            </a:r>
          </a:p>
          <a:p>
            <a:r>
              <a:rPr lang="es-ES" sz="2800" b="1" dirty="0"/>
              <a:t>Caso Test A/B</a:t>
            </a:r>
            <a:r>
              <a:rPr lang="es-ES" sz="2800" dirty="0"/>
              <a:t>: el grupo B no alcanza de forma consistente el +10% por etapa — decisión: no adoptar B.</a:t>
            </a:r>
          </a:p>
          <a:p>
            <a:r>
              <a:rPr lang="es-ES" sz="2800" b="1" dirty="0"/>
              <a:t>Caso SQL</a:t>
            </a:r>
            <a:r>
              <a:rPr lang="es-ES" sz="2800" dirty="0"/>
              <a:t>: resultados organizados por consulta para soportar decisiones de catálogo (editoriales, autores, </a:t>
            </a:r>
            <a:r>
              <a:rPr lang="es-ES" sz="2800" dirty="0" err="1"/>
              <a:t>engagement</a:t>
            </a:r>
            <a:r>
              <a:rPr lang="es-ES" sz="2800" dirty="0"/>
              <a:t>).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384077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260C31-7F52-53C5-F1A4-409A9423B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Índice</a:t>
            </a:r>
            <a:endParaRPr lang="es-CL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FE785A-5AC4-4E5B-F640-DF430F0EF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s-CL" sz="2800" b="1" dirty="0"/>
              <a:t>Caso 1: Telecomunicaciones — operadores ineficaces</a:t>
            </a:r>
          </a:p>
          <a:p>
            <a:pPr marL="457200" indent="-457200">
              <a:buAutoNum type="arabicPeriod"/>
            </a:pPr>
            <a:r>
              <a:rPr lang="es-CL" sz="2800" b="1" dirty="0"/>
              <a:t>Caso 2: Test A/B — </a:t>
            </a:r>
            <a:r>
              <a:rPr lang="es-CL" sz="2800" b="1" dirty="0" err="1"/>
              <a:t>recommender_system_test</a:t>
            </a:r>
            <a:endParaRPr lang="es-CL" sz="2800" b="1" dirty="0"/>
          </a:p>
          <a:p>
            <a:pPr marL="457200" indent="-457200">
              <a:buAutoNum type="arabicPeriod"/>
            </a:pPr>
            <a:r>
              <a:rPr lang="es-CL" sz="2800" b="1" dirty="0"/>
              <a:t>Caso 3: SQL — libros, editoriales, autores</a:t>
            </a:r>
          </a:p>
          <a:p>
            <a:pPr marL="457200" indent="-457200">
              <a:buAutoNum type="arabicPeriod"/>
            </a:pPr>
            <a:r>
              <a:rPr lang="es-CL" sz="2800" b="1" dirty="0"/>
              <a:t>Cierre — conclusiones, recomendaciones y próximos pasos</a:t>
            </a:r>
          </a:p>
        </p:txBody>
      </p:sp>
    </p:spTree>
    <p:extLst>
      <p:ext uri="{BB962C8B-B14F-4D97-AF65-F5344CB8AC3E}">
        <p14:creationId xmlns:p14="http://schemas.microsoft.com/office/powerpoint/2010/main" val="73697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B3CE3B-DF5B-3495-C4C4-7139AE694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Caso 1: ¿Qué se analizó?</a:t>
            </a:r>
            <a:endParaRPr lang="es-CL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9726D9-8293-653D-B61C-15AD7EAC5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s-ES" sz="2800" dirty="0"/>
          </a:p>
          <a:p>
            <a:r>
              <a:rPr lang="es-ES" sz="2800" b="1" dirty="0"/>
              <a:t>Operadores ineficaces</a:t>
            </a:r>
            <a:r>
              <a:rPr lang="es-ES" sz="2800" dirty="0"/>
              <a:t>: más entrantes perdidas, mayor espera y baja salida (si aplica).</a:t>
            </a:r>
          </a:p>
          <a:p>
            <a:r>
              <a:rPr lang="es-ES" sz="2800" dirty="0"/>
              <a:t>Segmentación por </a:t>
            </a:r>
            <a:r>
              <a:rPr lang="es-ES" sz="2800" dirty="0" err="1"/>
              <a:t>user_id</a:t>
            </a:r>
            <a:r>
              <a:rPr lang="es-ES" sz="2800" dirty="0"/>
              <a:t> y </a:t>
            </a:r>
            <a:r>
              <a:rPr lang="es-ES" sz="2800" dirty="0" err="1"/>
              <a:t>operator_id</a:t>
            </a:r>
            <a:r>
              <a:rPr lang="es-ES" sz="2800" dirty="0"/>
              <a:t>; análisis por dirección (in/</a:t>
            </a:r>
            <a:r>
              <a:rPr lang="es-ES" sz="2800" dirty="0" err="1"/>
              <a:t>out</a:t>
            </a:r>
            <a:r>
              <a:rPr lang="es-ES" sz="2800" dirty="0"/>
              <a:t>) e internas.</a:t>
            </a:r>
          </a:p>
        </p:txBody>
      </p:sp>
    </p:spTree>
    <p:extLst>
      <p:ext uri="{BB962C8B-B14F-4D97-AF65-F5344CB8AC3E}">
        <p14:creationId xmlns:p14="http://schemas.microsoft.com/office/powerpoint/2010/main" val="1359112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536E98-527E-B67C-115B-1C349CF4D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z="4800" b="1" i="0" u="none" strike="noStrike" kern="1200" cap="none" spc="0" normalizeH="0" baseline="0" noProof="0" dirty="0">
                <a:ln w="3175" cmpd="sng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aramond" panose="02020404030301010803"/>
                <a:ea typeface="+mj-ea"/>
                <a:cs typeface="+mj-cs"/>
              </a:rPr>
              <a:t>Caso 1: </a:t>
            </a:r>
            <a:r>
              <a:rPr lang="es-CL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Principales hallazgos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178E3C-4F63-24DA-EBB2-19E248D8E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L" sz="2800" dirty="0"/>
              <a:t>Diferencias claras entre operadores en % de perdidas y tiempos de espera.</a:t>
            </a:r>
          </a:p>
          <a:p>
            <a:r>
              <a:rPr lang="es-CL" sz="2800" dirty="0"/>
              <a:t>Picos de demanda por día/hora condicionan desempeño; ajustar </a:t>
            </a:r>
            <a:r>
              <a:rPr lang="es-CL" sz="2800" dirty="0" err="1"/>
              <a:t>staffing</a:t>
            </a:r>
            <a:r>
              <a:rPr lang="es-CL" sz="2800" dirty="0"/>
              <a:t>/turnos.</a:t>
            </a:r>
          </a:p>
          <a:p>
            <a:r>
              <a:rPr lang="es-CL" sz="2800" dirty="0"/>
              <a:t>Uso recomendado de </a:t>
            </a:r>
            <a:r>
              <a:rPr lang="es-CL" sz="2800" dirty="0" err="1"/>
              <a:t>dashboard</a:t>
            </a:r>
            <a:r>
              <a:rPr lang="es-CL" sz="2800" dirty="0"/>
              <a:t> para seguimiento continuo por cliente (</a:t>
            </a:r>
            <a:r>
              <a:rPr lang="es-CL" sz="2800" dirty="0" err="1"/>
              <a:t>user_id</a:t>
            </a:r>
            <a:r>
              <a:rPr lang="es-CL" sz="2800" dirty="0"/>
              <a:t>).</a:t>
            </a:r>
          </a:p>
          <a:p>
            <a:pPr marL="0" indent="0">
              <a:buNone/>
            </a:pP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416603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CF4830-8F39-4CDD-528E-FDAB1B167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800" b="1" dirty="0"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Caso 1: Acciones</a:t>
            </a:r>
            <a:endParaRPr lang="es-CL" sz="4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B6A2B8-FA92-016A-AAB1-05BA28553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s-CL" dirty="0"/>
          </a:p>
          <a:p>
            <a:r>
              <a:rPr lang="es-CL" sz="2800" dirty="0"/>
              <a:t>Reentrenar y supervisar operadores con indicadores rezagados.</a:t>
            </a:r>
          </a:p>
          <a:p>
            <a:r>
              <a:rPr lang="es-CL" sz="2800" dirty="0" err="1"/>
              <a:t>Rebalancear</a:t>
            </a:r>
            <a:r>
              <a:rPr lang="es-CL" sz="2800" dirty="0"/>
              <a:t> horarios/turnos en picos identificados.</a:t>
            </a:r>
          </a:p>
          <a:p>
            <a:r>
              <a:rPr lang="es-CL" sz="2800" dirty="0"/>
              <a:t>Monitoreo semanal de % perdidas y espera promedio por operador.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208331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DD46D6-C1D2-9464-CE53-13AE20251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Caso 2: Contexto del experimento </a:t>
            </a:r>
            <a:endParaRPr lang="es-CL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945C4F-63D8-E361-DBDE-B082A2E9C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2800" b="1" dirty="0"/>
              <a:t>Embudo medido</a:t>
            </a:r>
            <a:r>
              <a:rPr lang="es-ES" sz="2800" dirty="0"/>
              <a:t>: </a:t>
            </a:r>
            <a:r>
              <a:rPr lang="es-ES" sz="2800" dirty="0" err="1"/>
              <a:t>product_page</a:t>
            </a:r>
            <a:r>
              <a:rPr lang="es-ES" sz="2800" dirty="0"/>
              <a:t> → </a:t>
            </a:r>
            <a:r>
              <a:rPr lang="es-ES" sz="2800" dirty="0" err="1"/>
              <a:t>product_card</a:t>
            </a:r>
            <a:r>
              <a:rPr lang="es-ES" sz="2800" dirty="0"/>
              <a:t> → </a:t>
            </a:r>
            <a:r>
              <a:rPr lang="es-ES" sz="2800" dirty="0" err="1"/>
              <a:t>purchase</a:t>
            </a:r>
            <a:r>
              <a:rPr lang="es-ES" sz="2800" dirty="0"/>
              <a:t> (14 días por usuario).</a:t>
            </a:r>
          </a:p>
          <a:p>
            <a:pPr marL="0" indent="0">
              <a:buNone/>
            </a:pPr>
            <a:endParaRPr lang="es-ES" sz="2800" dirty="0"/>
          </a:p>
          <a:p>
            <a:r>
              <a:rPr lang="es-ES" sz="2800" b="1" dirty="0"/>
              <a:t>Grupos</a:t>
            </a:r>
            <a:r>
              <a:rPr lang="es-ES" sz="2800" dirty="0"/>
              <a:t>: A (control) y B (nuevo embudo). Región UE; inclusión 07–21 dic 2020; fin 01/01/2021.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25957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98FF28-3565-8480-C88B-2CD78BB1B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Caso 2: Comparación A vs B  a lo largo del tiempo</a:t>
            </a:r>
            <a:endParaRPr lang="es-CL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2" descr="fig_01.png">
            <a:extLst>
              <a:ext uri="{FF2B5EF4-FFF2-40B4-BE49-F238E27FC236}">
                <a16:creationId xmlns:a16="http://schemas.microsoft.com/office/drawing/2014/main" id="{4953E38A-E49C-09CA-9194-60573726469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46280" y="2560638"/>
            <a:ext cx="5379822" cy="3309937"/>
          </a:xfrm>
          <a:prstGeom prst="rect">
            <a:avLst/>
          </a:prstGeom>
        </p:spPr>
      </p:pic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3A718A4E-2FDD-B5BF-3F79-01E4059E83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12913" y="2881423"/>
            <a:ext cx="3428474" cy="981917"/>
          </a:xfrm>
        </p:spPr>
        <p:txBody>
          <a:bodyPr>
            <a:normAutofit fontScale="92500" lnSpcReduction="20000"/>
          </a:bodyPr>
          <a:lstStyle/>
          <a:p>
            <a:r>
              <a:rPr lang="es-CL" dirty="0"/>
              <a:t>Se observa trayectoria superior de B en métricas acumuladas.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124471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2F5713-1A4D-EFEB-B728-9A508B988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Caso 2: Evolución diaria por etapa del embudo</a:t>
            </a:r>
            <a:endParaRPr lang="es-CL" dirty="0"/>
          </a:p>
        </p:txBody>
      </p:sp>
      <p:pic>
        <p:nvPicPr>
          <p:cNvPr id="4" name="Picture 2" descr="fig_02.png">
            <a:extLst>
              <a:ext uri="{FF2B5EF4-FFF2-40B4-BE49-F238E27FC236}">
                <a16:creationId xmlns:a16="http://schemas.microsoft.com/office/drawing/2014/main" id="{25E3DA52-F31B-DA69-0486-4D7E2AB9329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46280" y="2560638"/>
            <a:ext cx="5964613" cy="3309937"/>
          </a:xfrm>
          <a:prstGeom prst="rect">
            <a:avLst/>
          </a:prstGeom>
        </p:spPr>
      </p:pic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3244E62D-FC50-C90C-A7EC-92CE33FD42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66073" y="2636874"/>
            <a:ext cx="3402419" cy="3233574"/>
          </a:xfrm>
        </p:spPr>
        <p:txBody>
          <a:bodyPr/>
          <a:lstStyle/>
          <a:p>
            <a:r>
              <a:rPr lang="es-ES" dirty="0"/>
              <a:t>Variaciones por día coherentes con estacionalidad/actividad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984350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518F258-4F20-EC9A-9A8E-CF0C91461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Caso </a:t>
            </a:r>
            <a:r>
              <a:rPr lang="es-ES" sz="4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2: Resumen de tasas por grupo y etapa</a:t>
            </a:r>
            <a:br>
              <a:rPr lang="es-ES" dirty="0"/>
            </a:br>
            <a:endParaRPr lang="es-CL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850A543-788C-7160-B6ED-32E5FCFCE0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836194" y="2560320"/>
            <a:ext cx="3063453" cy="3310128"/>
          </a:xfrm>
        </p:spPr>
        <p:txBody>
          <a:bodyPr/>
          <a:lstStyle/>
          <a:p>
            <a:r>
              <a:rPr lang="es-ES" dirty="0"/>
              <a:t>Útil para revisar diferencias relativas y estabilidad.</a:t>
            </a:r>
            <a:endParaRPr lang="es-CL" dirty="0"/>
          </a:p>
        </p:txBody>
      </p:sp>
      <p:pic>
        <p:nvPicPr>
          <p:cNvPr id="7" name="Picture 2" descr="fig_03.png">
            <a:extLst>
              <a:ext uri="{FF2B5EF4-FFF2-40B4-BE49-F238E27FC236}">
                <a16:creationId xmlns:a16="http://schemas.microsoft.com/office/drawing/2014/main" id="{3539A3C5-99EE-F8A3-7517-7F5289DEDFA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221082" y="2560638"/>
            <a:ext cx="4436724" cy="3309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999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000E09-766B-7A29-A8B1-20C9D5589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Caso 2: Distribución de eventos/usuarios.</a:t>
            </a:r>
            <a:b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s-CL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695873A-247C-9015-3BAB-3E292C8C7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38214" y="2560320"/>
            <a:ext cx="2861434" cy="3310128"/>
          </a:xfrm>
        </p:spPr>
        <p:txBody>
          <a:bodyPr/>
          <a:lstStyle/>
          <a:p>
            <a:r>
              <a:rPr lang="es-ES" dirty="0"/>
              <a:t>Revela dispersiones y posibles atípicos.</a:t>
            </a:r>
          </a:p>
          <a:p>
            <a:endParaRPr lang="es-CL" dirty="0"/>
          </a:p>
        </p:txBody>
      </p:sp>
      <p:pic>
        <p:nvPicPr>
          <p:cNvPr id="5" name="Picture 2" descr="fig_04.png">
            <a:extLst>
              <a:ext uri="{FF2B5EF4-FFF2-40B4-BE49-F238E27FC236}">
                <a16:creationId xmlns:a16="http://schemas.microsoft.com/office/drawing/2014/main" id="{231BECB4-3C86-7846-D026-4899485CB48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114719" y="2560638"/>
            <a:ext cx="4436724" cy="3309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9725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D3A50D-15CF-220A-4166-78CEB7A61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Caso 2: Conclusión</a:t>
            </a:r>
            <a:endParaRPr lang="es-CL" sz="4800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71D2DBB8-1616-7F23-D9F9-10548DA01E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2800" dirty="0"/>
              <a:t>El grupo B no alcanza de forma consistente el +10% por etapa del embudo en la ventana analizada.</a:t>
            </a:r>
          </a:p>
          <a:p>
            <a:pPr marL="0" indent="0">
              <a:buNone/>
            </a:pPr>
            <a:endParaRPr lang="es-ES" sz="2800" dirty="0"/>
          </a:p>
          <a:p>
            <a:r>
              <a:rPr lang="es-ES" sz="2800" b="1" dirty="0"/>
              <a:t>Decisión</a:t>
            </a:r>
            <a:r>
              <a:rPr lang="es-ES" sz="2800" dirty="0"/>
              <a:t>: no adoptar B; proponer nueva iteración con control de calidad de tráfico y potencia.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577451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BAE541-B527-9835-8DB2-F37AA40CC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Caso 3: ¿Qué se resolvió?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A782A3-A3B1-427B-42D6-B7BC3F5D1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sz="2800" dirty="0"/>
          </a:p>
          <a:p>
            <a:r>
              <a:rPr lang="es-ES" sz="2800" dirty="0"/>
              <a:t>Respuestas con SQL puro para 5 preguntas de negocio sobre libros, editoriales, autores, ratings y reseñas.</a:t>
            </a:r>
          </a:p>
          <a:p>
            <a:r>
              <a:rPr lang="es-ES" sz="2800" dirty="0"/>
              <a:t>Uso de </a:t>
            </a:r>
            <a:r>
              <a:rPr lang="es-ES" sz="2800" dirty="0" err="1"/>
              <a:t>joins</a:t>
            </a:r>
            <a:r>
              <a:rPr lang="es-ES" sz="2800" dirty="0"/>
              <a:t> y </a:t>
            </a:r>
            <a:r>
              <a:rPr lang="es-ES" sz="2800" dirty="0" err="1"/>
              <a:t>CTEs</a:t>
            </a:r>
            <a:r>
              <a:rPr lang="es-ES" sz="2800" dirty="0"/>
              <a:t> para consolidar rating medio, reseñas por libro y líderes por volumen/calidad.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6567450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DF6029-9304-4626-2AB9-3DC6304EC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Caso 3: </a:t>
            </a:r>
            <a:r>
              <a:rPr lang="es-CL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Hallazgos</a:t>
            </a:r>
            <a:r>
              <a:rPr lang="es-CL" dirty="0"/>
              <a:t>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56B018-0E11-BE11-39F0-520C2FD9B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s-ES" sz="2800" dirty="0"/>
              <a:t>Conteo de títulos post-2000 para dimensionar oferta reciente.</a:t>
            </a:r>
          </a:p>
          <a:p>
            <a:r>
              <a:rPr lang="es-ES" sz="2800" dirty="0"/>
              <a:t>Editorial con mayor producción (&gt;50 páginas) para priorizar acuerdos.</a:t>
            </a:r>
          </a:p>
          <a:p>
            <a:r>
              <a:rPr lang="es-ES" sz="2800" dirty="0"/>
              <a:t>Autor con rating medio más alto (≥50 calificaciones) como referente de calidad.</a:t>
            </a:r>
          </a:p>
          <a:p>
            <a:r>
              <a:rPr lang="es-ES" sz="2800" dirty="0"/>
              <a:t>Promedio de reseñas de texto en </a:t>
            </a:r>
            <a:r>
              <a:rPr lang="es-ES" sz="2800" dirty="0" err="1"/>
              <a:t>power</a:t>
            </a:r>
            <a:r>
              <a:rPr lang="es-ES" sz="2800" dirty="0"/>
              <a:t> </a:t>
            </a:r>
            <a:r>
              <a:rPr lang="es-ES" sz="2800" dirty="0" err="1"/>
              <a:t>users</a:t>
            </a:r>
            <a:r>
              <a:rPr lang="es-ES" sz="2800" dirty="0"/>
              <a:t> para medir </a:t>
            </a:r>
            <a:r>
              <a:rPr lang="es-ES" sz="2800" dirty="0" err="1"/>
              <a:t>engagement</a:t>
            </a:r>
            <a:r>
              <a:rPr lang="es-ES" sz="2800" dirty="0"/>
              <a:t>.</a:t>
            </a:r>
          </a:p>
          <a:p>
            <a:pPr marL="0" indent="0">
              <a:buNone/>
            </a:pP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4212008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6D7C56-259A-9A8A-264F-85E411B33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L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Recomendaciones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8F36B3-245F-FF87-6756-FC39A45354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800" b="1" dirty="0"/>
              <a:t>Caso 1: </a:t>
            </a:r>
            <a:r>
              <a:rPr lang="es-ES" sz="2800" dirty="0"/>
              <a:t>ejecutar plan de mejora por operador y ajustar cobertura en picos.</a:t>
            </a:r>
          </a:p>
          <a:p>
            <a:r>
              <a:rPr lang="es-ES" sz="2800" b="1" dirty="0"/>
              <a:t>Caso 2: </a:t>
            </a:r>
            <a:r>
              <a:rPr lang="es-ES" sz="2800" dirty="0"/>
              <a:t>iterar el embudo B; separar campañas/temporadas y asegurar tamaño de muestra.</a:t>
            </a:r>
          </a:p>
          <a:p>
            <a:r>
              <a:rPr lang="es-ES" sz="2800" b="1" dirty="0"/>
              <a:t>Caso 3</a:t>
            </a:r>
            <a:r>
              <a:rPr lang="es-ES" sz="2800" dirty="0"/>
              <a:t>: llevar hallazgos a </a:t>
            </a:r>
            <a:r>
              <a:rPr lang="es-ES" sz="2800" dirty="0" err="1"/>
              <a:t>dashboard</a:t>
            </a:r>
            <a:r>
              <a:rPr lang="es-ES" sz="2800" dirty="0"/>
              <a:t> (tendencias por año, top editoriales/autores).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3127619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31C8B5-1A24-5DF6-BE7B-F1AA3A3C5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Base de datos</a:t>
            </a:r>
            <a:endParaRPr lang="es-CL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B98CA92-C1E9-77FD-EEC1-010B327A8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CL" b="1" dirty="0" err="1"/>
              <a:t>Datasets</a:t>
            </a:r>
            <a:r>
              <a:rPr lang="es-CL" b="1" dirty="0"/>
              <a:t>:</a:t>
            </a:r>
          </a:p>
          <a:p>
            <a:r>
              <a:rPr lang="es-CL" dirty="0" err="1"/>
              <a:t>datasets</a:t>
            </a:r>
            <a:r>
              <a:rPr lang="es-CL" dirty="0"/>
              <a:t>/telecom_dataset_us.csv</a:t>
            </a:r>
          </a:p>
          <a:p>
            <a:r>
              <a:rPr lang="es-CL" dirty="0"/>
              <a:t> </a:t>
            </a:r>
            <a:r>
              <a:rPr lang="es-CL" dirty="0" err="1"/>
              <a:t>datasets</a:t>
            </a:r>
            <a:r>
              <a:rPr lang="es-CL" dirty="0"/>
              <a:t>/telecom_clients_us.csv</a:t>
            </a:r>
          </a:p>
          <a:p>
            <a:r>
              <a:rPr lang="es-CL" dirty="0" err="1"/>
              <a:t>datasets</a:t>
            </a:r>
            <a:r>
              <a:rPr lang="es-CL" dirty="0"/>
              <a:t>/ab_project_marketing_events_us.csv</a:t>
            </a:r>
          </a:p>
          <a:p>
            <a:r>
              <a:rPr lang="es-CL" dirty="0" err="1"/>
              <a:t>datasets</a:t>
            </a:r>
            <a:r>
              <a:rPr lang="es-CL" dirty="0"/>
              <a:t>/final_ab_new_users_upd_us.csv</a:t>
            </a:r>
          </a:p>
          <a:p>
            <a:r>
              <a:rPr lang="es-CL" dirty="0" err="1"/>
              <a:t>datasets</a:t>
            </a:r>
            <a:r>
              <a:rPr lang="es-CL" dirty="0"/>
              <a:t>/final_ab_events_upd_us.csv</a:t>
            </a:r>
          </a:p>
          <a:p>
            <a:r>
              <a:rPr lang="es-CL" dirty="0" err="1"/>
              <a:t>datasets</a:t>
            </a:r>
            <a:r>
              <a:rPr lang="es-CL" dirty="0"/>
              <a:t>/final_ab_participants_upd_us.csv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7486370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ánico">
  <a:themeElements>
    <a:clrScheme name="Orgánico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ánico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ánico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1307</TotalTime>
  <Words>713</Words>
  <Application>Microsoft Office PowerPoint</Application>
  <PresentationFormat>Panorámica</PresentationFormat>
  <Paragraphs>69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0" baseType="lpstr">
      <vt:lpstr>Arial</vt:lpstr>
      <vt:lpstr>Garamond</vt:lpstr>
      <vt:lpstr>Orgánico</vt:lpstr>
      <vt:lpstr>Proyecto Final — Data Analyst (TripleTen)</vt:lpstr>
      <vt:lpstr>Enlaces y accesos</vt:lpstr>
      <vt:lpstr>Hallazgos generales</vt:lpstr>
      <vt:lpstr>Índice</vt:lpstr>
      <vt:lpstr>Caso 1: ¿Qué se analizó?</vt:lpstr>
      <vt:lpstr>Caso 1: Principales hallazgos</vt:lpstr>
      <vt:lpstr>Caso 1: Acciones</vt:lpstr>
      <vt:lpstr>Caso 2: Contexto del experimento </vt:lpstr>
      <vt:lpstr>Caso 2: Comparación A vs B  a lo largo del tiempo</vt:lpstr>
      <vt:lpstr>Caso 2: Evolución diaria por etapa del embudo</vt:lpstr>
      <vt:lpstr> Caso 2: Resumen de tasas por grupo y etapa </vt:lpstr>
      <vt:lpstr> Caso 2: Distribución de eventos/usuarios. </vt:lpstr>
      <vt:lpstr>Caso 2: Conclusión</vt:lpstr>
      <vt:lpstr>Caso 3: ¿Qué se resolvió?</vt:lpstr>
      <vt:lpstr>Caso 3: Hallazgos </vt:lpstr>
      <vt:lpstr>Recomendaciones</vt:lpstr>
      <vt:lpstr>Base de datos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Paz Munita Vidal</dc:creator>
  <cp:lastModifiedBy>Maria Paz Munita Vidal</cp:lastModifiedBy>
  <cp:revision>36</cp:revision>
  <dcterms:created xsi:type="dcterms:W3CDTF">2025-11-24T21:58:07Z</dcterms:created>
  <dcterms:modified xsi:type="dcterms:W3CDTF">2025-11-26T20:46:15Z</dcterms:modified>
</cp:coreProperties>
</file>